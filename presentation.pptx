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2.xml" ContentType="application/vnd.ms-office.chartstyle+xml"/>
  <Override PartName="/ppt/charts/chart3.xml" ContentType="application/vnd.openxmlformats-officedocument.drawingml.chart+xml"/>
  <Override PartName="/ppt/charts/chart2.xml" ContentType="application/vnd.openxmlformats-officedocument.drawingml.chart+xml"/>
  <Override PartName="/ppt/charts/colors2.xml" ContentType="application/vnd.ms-office.chartcolorstyle+xml"/>
  <Override PartName="/ppt/charts/style3.xml" ContentType="application/vnd.ms-office.chartstyle+xml"/>
  <Override PartName="/ppt/charts/style1.xml" ContentType="application/vnd.ms-office.chartstyle+xml"/>
  <Override PartName="/ppt/charts/colors3.xml" ContentType="application/vnd.ms-office.chartcolorstyl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_rels/chart3.xml.rels><?xml version="1.0" encoding="UTF-8"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sz="1300" b="0" u="none" strike="noStrike">
                <a:solidFill>
                  <a:srgbClr val="000000"/>
                </a:solidFill>
                <a:uFillTx/>
                <a:latin typeface="Arial"/>
              </a:defRPr>
            </a:pPr>
            <a:r>
              <a:rPr sz="1800" b="0" u="none" strike="noStrike">
                <a:solidFill>
                  <a:srgbClr val="000000"/>
                </a:solidFill>
                <a:uFillTx/>
                <a:latin typeface="Arial"/>
              </a:rPr>
              <a:t>Signal Weights in Behavioral Score (%)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rgbClr val="028090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200" b="0" u="none" strike="noStrike">
                    <a:solidFill>
                      <a:srgbClr val="1E2761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6"/>
                <c:pt idx="0">
                  <c:v>Activity
Recency</c:v>
                </c:pt>
                <c:pt idx="1">
                  <c:v>Open to
Work</c:v>
                </c:pt>
                <c:pt idx="2">
                  <c:v>Response
Rate</c:v>
                </c:pt>
                <c:pt idx="3">
                  <c:v>GitHub
Score</c:v>
                </c:pt>
                <c:pt idx="4">
                  <c:v>Response
Time</c:v>
                </c:pt>
                <c:pt idx="5">
                  <c:v>Notice
Period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6"/>
                <c:pt idx="0">
                  <c:v>25</c:v>
                </c:pt>
                <c:pt idx="1">
                  <c:v>20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  <c:pt idx="5">
                  <c:v>5</c:v>
                </c:pt>
              </c:numCache>
            </c:numRef>
          </c:val>
        </c:ser>
        <c:gapWidth val="150"/>
        <c:overlap val="0"/>
        <c:axId val="37342329"/>
        <c:axId val="99634423"/>
      </c:barChart>
      <c:catAx>
        <c:axId val="37342329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4748B"/>
                </a:solidFill>
                <a:uFillTx/>
                <a:latin typeface="Arial"/>
              </a:defRPr>
            </a:pPr>
          </a:p>
        </c:txPr>
        <c:crossAx val="99634423"/>
        <c:crosses val="autoZero"/>
        <c:auto val="1"/>
        <c:lblAlgn val="ctr"/>
        <c:lblOffset val="100"/>
        <c:noMultiLvlLbl val="0"/>
      </c:catAx>
      <c:valAx>
        <c:axId val="99634423"/>
        <c:scaling>
          <c:orientation val="minMax"/>
        </c:scaling>
        <c:delete val="0"/>
        <c:axPos val="l"/>
        <c:majorGridlines>
          <c:spPr>
            <a:ln w="6480">
              <a:solidFill>
                <a:srgbClr val="E2E8F0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4748B"/>
                </a:solidFill>
                <a:uFillTx/>
                <a:latin typeface="Arial"/>
              </a:defRPr>
            </a:pPr>
          </a:p>
        </c:txPr>
        <c:crossAx val="37342329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solidFill>
      <a:srgbClr val="FFFFFF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sz="1300" b="0" u="none" strike="noStrike">
                <a:solidFill>
                  <a:srgbClr val="000000"/>
                </a:solidFill>
                <a:uFillTx/>
                <a:latin typeface="Arial"/>
              </a:defRPr>
            </a:pPr>
            <a:r>
              <a:rPr sz="1800" b="0" u="none" strike="noStrike">
                <a:solidFill>
                  <a:srgbClr val="000000"/>
                </a:solidFill>
                <a:uFillTx/>
                <a:latin typeface="Arial"/>
              </a:rPr>
              <a:t>Experience Distribution (% approx)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Candidates</c:v>
                </c:pt>
              </c:strCache>
            </c:strRef>
          </c:tx>
          <c:spPr>
            <a:solidFill>
              <a:srgbClr val="028090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6"/>
                <c:pt idx="0">
                  <c:v>0-2 yrs</c:v>
                </c:pt>
                <c:pt idx="1">
                  <c:v>2-4 yrs</c:v>
                </c:pt>
                <c:pt idx="2">
                  <c:v>4-6 yrs</c:v>
                </c:pt>
                <c:pt idx="3">
                  <c:v>6-9 yrs</c:v>
                </c:pt>
                <c:pt idx="4">
                  <c:v>9-12 yrs</c:v>
                </c:pt>
                <c:pt idx="5">
                  <c:v>12+ yrs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6"/>
                <c:pt idx="0">
                  <c:v>8</c:v>
                </c:pt>
                <c:pt idx="1">
                  <c:v>14</c:v>
                </c:pt>
                <c:pt idx="2">
                  <c:v>21</c:v>
                </c:pt>
                <c:pt idx="3">
                  <c:v>28</c:v>
                </c:pt>
                <c:pt idx="4">
                  <c:v>18</c:v>
                </c:pt>
                <c:pt idx="5">
                  <c:v>11</c:v>
                </c:pt>
              </c:numCache>
            </c:numRef>
          </c:val>
        </c:ser>
        <c:gapWidth val="150"/>
        <c:overlap val="0"/>
        <c:axId val="67148414"/>
        <c:axId val="50799518"/>
      </c:barChart>
      <c:catAx>
        <c:axId val="6714841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4748B"/>
                </a:solidFill>
                <a:uFillTx/>
                <a:latin typeface="Arial"/>
              </a:defRPr>
            </a:pPr>
          </a:p>
        </c:txPr>
        <c:crossAx val="50799518"/>
        <c:crosses val="autoZero"/>
        <c:auto val="1"/>
        <c:lblAlgn val="ctr"/>
        <c:lblOffset val="100"/>
        <c:noMultiLvlLbl val="0"/>
      </c:catAx>
      <c:valAx>
        <c:axId val="50799518"/>
        <c:scaling>
          <c:orientation val="minMax"/>
        </c:scaling>
        <c:delete val="0"/>
        <c:axPos val="l"/>
        <c:majorGridlines>
          <c:spPr>
            <a:ln w="6480">
              <a:solidFill>
                <a:srgbClr val="E2E8F0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4748B"/>
                </a:solidFill>
                <a:uFillTx/>
                <a:latin typeface="Arial"/>
              </a:defRPr>
            </a:pPr>
          </a:p>
        </c:txPr>
        <c:crossAx val="67148414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solidFill>
      <a:srgbClr val="FFFFFF"/>
    </a:solidFill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sz="1300" b="0" u="none" strike="noStrike">
                <a:solidFill>
                  <a:srgbClr val="000000"/>
                </a:solidFill>
                <a:uFillTx/>
                <a:latin typeface="Arial"/>
              </a:defRPr>
            </a:pPr>
            <a:r>
              <a:rPr sz="1800" b="0" u="none" strike="noStrike">
                <a:solidFill>
                  <a:srgbClr val="000000"/>
                </a:solidFill>
                <a:uFillTx/>
                <a:latin typeface="Arial"/>
              </a:rPr>
              <a:t>Institution Tier Distribution (%)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pie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Tier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1E2761"/>
              </a:solidFill>
              <a:ln w="0">
                <a:noFill/>
              </a:ln>
            </c:spPr>
          </c:dPt>
          <c:dPt>
            <c:idx val="1"/>
            <c:spPr>
              <a:solidFill>
                <a:srgbClr val="028090"/>
              </a:solidFill>
              <a:ln w="0">
                <a:noFill/>
              </a:ln>
            </c:spPr>
          </c:dPt>
          <c:dPt>
            <c:idx val="2"/>
            <c:spPr>
              <a:solidFill>
                <a:srgbClr val="6699CC"/>
              </a:solidFill>
              <a:ln w="0">
                <a:noFill/>
              </a:ln>
            </c:spPr>
          </c:dPt>
          <c:dPt>
            <c:idx val="3"/>
            <c:spPr>
              <a:solidFill>
                <a:srgbClr val="AABBCC"/>
              </a:solidFill>
              <a:ln w="0">
                <a:noFill/>
              </a:ln>
            </c:spPr>
          </c:dPt>
          <c:dPt>
            <c:idx val="4"/>
            <c:spPr>
              <a:solidFill>
                <a:srgbClr val="DDDDDD"/>
              </a:solidFill>
              <a:ln w="0">
                <a:noFill/>
              </a:ln>
            </c:spPr>
          </c:dPt>
          <c:dLbls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3"/>
              <c:numFmt formatCode="0%" sourceLinked="0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4"/>
              <c:numFmt formatCode="0%" sourceLinked="0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1"/>
              <c:separator>
</c:separator>
            </c:dLbl>
            <c:numFmt formatCode="0%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5"/>
                <c:pt idx="0">
                  <c:v>Tier 1</c:v>
                </c:pt>
                <c:pt idx="1">
                  <c:v>Tier 2</c:v>
                </c:pt>
                <c:pt idx="2">
                  <c:v>Tier 3</c:v>
                </c:pt>
                <c:pt idx="3">
                  <c:v>Tier 4</c:v>
                </c:pt>
                <c:pt idx="4">
                  <c:v>Unknown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12</c:v>
                </c:pt>
                <c:pt idx="1">
                  <c:v>28</c:v>
                </c:pt>
                <c:pt idx="2">
                  <c:v>38</c:v>
                </c:pt>
                <c:pt idx="3">
                  <c:v>14</c:v>
                </c:pt>
                <c:pt idx="4">
                  <c:v>8</c:v>
                </c:pt>
              </c:numCache>
            </c:numRef>
          </c:val>
        </c:ser>
        <c:firstSliceAng val="0"/>
      </c:pieChart>
      <c:spPr>
        <a:noFill/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000000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noFill/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3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I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IN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DEF0065-B60E-4AD3-A97E-DAA70AFF2300}" type="slidenum"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9B3FB7A-2A4D-4E20-B6DF-A0FC5D2B7B2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3513D62-AB7F-46E7-AC5E-E83767AB0D0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6703BE5-CFD2-4C86-806E-E36EED618CC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BCC6459-570D-4D21-91D0-BF79156B68D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26777B-89EB-4D00-BCBD-D8E2E086D4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1B703DD-B377-4B45-AE59-BF940A95AA3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A23D163-83EF-41A0-BC02-DEF6CED11C4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DCA2F87-EF20-453D-AEC9-945725C186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65F726-0BF4-4793-927D-354DEAA209A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BA93B19-970C-4B5D-B795-A0B674332CA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3A5CF11-D4D3-48A7-9659-2D3353FCEB3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I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I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IN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IN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IN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chart" Target="..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731520" y="1371600"/>
            <a:ext cx="76806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Hirer</a:t>
            </a:r>
            <a:endParaRPr lang="en-IN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731520" y="2468880"/>
            <a:ext cx="7680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Redrob Data &amp; AI Challenge  |  June 2026</a:t>
            </a:r>
            <a:endParaRPr lang="en-IN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31520" y="3108960"/>
            <a:ext cx="1645560" cy="63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731520" y="3291840"/>
            <a:ext cx="68576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A8C8D8"/>
                </a:solidFill>
                <a:effectLst/>
                <a:uFillTx/>
                <a:latin typeface="Calibri"/>
                <a:ea typeface="Calibri"/>
              </a:rPr>
              <a:t>Multi-signal ranking pipeline combining keyword scoring, semantic embeddings, and behavioral signals</a:t>
            </a:r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Problem Statement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1"/>
          <p:cNvSpPr/>
          <p:nvPr/>
        </p:nvSpPr>
        <p:spPr>
          <a:xfrm>
            <a:off x="365760" y="1097280"/>
            <a:ext cx="3840120" cy="3291480"/>
          </a:xfrm>
          <a:prstGeom prst="roundRect">
            <a:avLst>
              <a:gd name="adj" fmla="val 2778"/>
            </a:avLst>
          </a:prstGeom>
          <a:solidFill>
            <a:srgbClr val="F4F6F8"/>
          </a:solidFill>
          <a:ln w="12700">
            <a:solidFill>
              <a:srgbClr val="E0E4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"/>
          <p:cNvSpPr/>
          <p:nvPr/>
        </p:nvSpPr>
        <p:spPr>
          <a:xfrm>
            <a:off x="640080" y="1280160"/>
            <a:ext cx="3291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28090"/>
                </a:solidFill>
                <a:effectLst/>
                <a:uFillTx/>
                <a:latin typeface="Calibri"/>
                <a:ea typeface="Calibri"/>
              </a:rPr>
              <a:t>The Challenge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3"/>
          <p:cNvSpPr/>
          <p:nvPr/>
        </p:nvSpPr>
        <p:spPr>
          <a:xfrm>
            <a:off x="640080" y="1737360"/>
            <a:ext cx="32914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100,000 candidate profiles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1 Job Description for Senior AI Engineer at Redrob (Pune/Noida)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Need: top 100 candidates ranked by fit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With 1-2 sentence reasoning for each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5 min runtime limit, CPU only, no API calls during ranking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4"/>
          <p:cNvSpPr/>
          <p:nvPr/>
        </p:nvSpPr>
        <p:spPr>
          <a:xfrm>
            <a:off x="4572000" y="1097280"/>
            <a:ext cx="4114440" cy="3291480"/>
          </a:xfrm>
          <a:prstGeom prst="roundRect">
            <a:avLst>
              <a:gd name="adj" fmla="val 2778"/>
            </a:avLst>
          </a:prstGeom>
          <a:solidFill>
            <a:srgbClr val="F4F6F8"/>
          </a:solidFill>
          <a:ln w="12700">
            <a:solidFill>
              <a:srgbClr val="E0E4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5"/>
          <p:cNvSpPr/>
          <p:nvPr/>
        </p:nvSpPr>
        <p:spPr>
          <a:xfrm>
            <a:off x="4846320" y="128016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28090"/>
                </a:solidFill>
                <a:effectLst/>
                <a:uFillTx/>
                <a:latin typeface="Calibri"/>
                <a:ea typeface="Calibri"/>
              </a:rPr>
              <a:t>Candidate Data Available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6"/>
          <p:cNvSpPr/>
          <p:nvPr/>
        </p:nvSpPr>
        <p:spPr>
          <a:xfrm>
            <a:off x="4846320" y="1737360"/>
            <a:ext cx="356580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Skills with proficiency and endorsements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Career history with descriptions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Education with institution tier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23 behavioral signals (response rate, GitHub, activity, etc.)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Profile completeness score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My Approach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"/>
          <p:cNvSpPr/>
          <p:nvPr/>
        </p:nvSpPr>
        <p:spPr>
          <a:xfrm>
            <a:off x="457200" y="91440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5 phases built over 20 days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2"/>
          <p:cNvSpPr/>
          <p:nvPr/>
        </p:nvSpPr>
        <p:spPr>
          <a:xfrm>
            <a:off x="868680" y="1417320"/>
            <a:ext cx="731160" cy="7311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3"/>
          <p:cNvSpPr/>
          <p:nvPr/>
        </p:nvSpPr>
        <p:spPr>
          <a:xfrm>
            <a:off x="868680" y="1417320"/>
            <a:ext cx="731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4"/>
          <p:cNvSpPr/>
          <p:nvPr/>
        </p:nvSpPr>
        <p:spPr>
          <a:xfrm>
            <a:off x="1618200" y="1783080"/>
            <a:ext cx="548640" cy="360"/>
          </a:xfrm>
          <a:prstGeom prst="line">
            <a:avLst/>
          </a:prstGeom>
          <a:ln w="19050">
            <a:solidFill>
              <a:srgbClr val="AABB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5"/>
          <p:cNvSpPr/>
          <p:nvPr/>
        </p:nvSpPr>
        <p:spPr>
          <a:xfrm>
            <a:off x="640080" y="2331720"/>
            <a:ext cx="1371240" cy="2102760"/>
          </a:xfrm>
          <a:prstGeom prst="roundRect">
            <a:avLst>
              <a:gd name="adj" fmla="val 5333"/>
            </a:avLst>
          </a:prstGeom>
          <a:solidFill>
            <a:srgbClr val="F4F6F8"/>
          </a:solidFill>
          <a:ln w="12700">
            <a:solidFill>
              <a:srgbClr val="D0D8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6"/>
          <p:cNvSpPr/>
          <p:nvPr/>
        </p:nvSpPr>
        <p:spPr>
          <a:xfrm>
            <a:off x="640080" y="242316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Explore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7"/>
          <p:cNvSpPr/>
          <p:nvPr/>
        </p:nvSpPr>
        <p:spPr>
          <a:xfrm>
            <a:off x="685800" y="2788920"/>
            <a:ext cx="127980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Understand schema, identify important fields, profile distributions</a:t>
            </a:r>
            <a:endParaRPr lang="en-IN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8"/>
          <p:cNvSpPr/>
          <p:nvPr/>
        </p:nvSpPr>
        <p:spPr>
          <a:xfrm>
            <a:off x="2578680" y="1417320"/>
            <a:ext cx="731160" cy="7311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9"/>
          <p:cNvSpPr/>
          <p:nvPr/>
        </p:nvSpPr>
        <p:spPr>
          <a:xfrm>
            <a:off x="2578680" y="1417320"/>
            <a:ext cx="731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0"/>
          <p:cNvSpPr/>
          <p:nvPr/>
        </p:nvSpPr>
        <p:spPr>
          <a:xfrm>
            <a:off x="3328200" y="1783080"/>
            <a:ext cx="548640" cy="360"/>
          </a:xfrm>
          <a:prstGeom prst="line">
            <a:avLst/>
          </a:prstGeom>
          <a:ln w="19050">
            <a:solidFill>
              <a:srgbClr val="AABB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11"/>
          <p:cNvSpPr/>
          <p:nvPr/>
        </p:nvSpPr>
        <p:spPr>
          <a:xfrm>
            <a:off x="2350080" y="2331720"/>
            <a:ext cx="1371240" cy="2102760"/>
          </a:xfrm>
          <a:prstGeom prst="roundRect">
            <a:avLst>
              <a:gd name="adj" fmla="val 5333"/>
            </a:avLst>
          </a:prstGeom>
          <a:solidFill>
            <a:srgbClr val="F4F6F8"/>
          </a:solidFill>
          <a:ln w="12700">
            <a:solidFill>
              <a:srgbClr val="D0D8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2"/>
          <p:cNvSpPr/>
          <p:nvPr/>
        </p:nvSpPr>
        <p:spPr>
          <a:xfrm>
            <a:off x="2350080" y="242316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Baseline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3"/>
          <p:cNvSpPr/>
          <p:nvPr/>
        </p:nvSpPr>
        <p:spPr>
          <a:xfrm>
            <a:off x="2395800" y="2788920"/>
            <a:ext cx="127980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Keyword matching against JD must-have skills (TF-IDF style)</a:t>
            </a:r>
            <a:endParaRPr lang="en-IN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4"/>
          <p:cNvSpPr/>
          <p:nvPr/>
        </p:nvSpPr>
        <p:spPr>
          <a:xfrm>
            <a:off x="4288680" y="1417320"/>
            <a:ext cx="731160" cy="7311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5"/>
          <p:cNvSpPr/>
          <p:nvPr/>
        </p:nvSpPr>
        <p:spPr>
          <a:xfrm>
            <a:off x="4288680" y="1417320"/>
            <a:ext cx="731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6"/>
          <p:cNvSpPr/>
          <p:nvPr/>
        </p:nvSpPr>
        <p:spPr>
          <a:xfrm>
            <a:off x="5038200" y="1783080"/>
            <a:ext cx="548640" cy="360"/>
          </a:xfrm>
          <a:prstGeom prst="line">
            <a:avLst/>
          </a:prstGeom>
          <a:ln w="19050">
            <a:solidFill>
              <a:srgbClr val="AABB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7"/>
          <p:cNvSpPr/>
          <p:nvPr/>
        </p:nvSpPr>
        <p:spPr>
          <a:xfrm>
            <a:off x="4060080" y="2331720"/>
            <a:ext cx="1371240" cy="2102760"/>
          </a:xfrm>
          <a:prstGeom prst="roundRect">
            <a:avLst>
              <a:gd name="adj" fmla="val 5333"/>
            </a:avLst>
          </a:prstGeom>
          <a:solidFill>
            <a:srgbClr val="F4F6F8"/>
          </a:solidFill>
          <a:ln w="12700">
            <a:solidFill>
              <a:srgbClr val="D0D8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8"/>
          <p:cNvSpPr/>
          <p:nvPr/>
        </p:nvSpPr>
        <p:spPr>
          <a:xfrm>
            <a:off x="4060080" y="242316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Semantic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9"/>
          <p:cNvSpPr/>
          <p:nvPr/>
        </p:nvSpPr>
        <p:spPr>
          <a:xfrm>
            <a:off x="4105800" y="2788920"/>
            <a:ext cx="127980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Sentence embeddings (all-MiniLM-L6-v2) on candidate text vs JD</a:t>
            </a:r>
            <a:endParaRPr lang="en-IN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20"/>
          <p:cNvSpPr/>
          <p:nvPr/>
        </p:nvSpPr>
        <p:spPr>
          <a:xfrm>
            <a:off x="5998320" y="1417320"/>
            <a:ext cx="731160" cy="7311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1"/>
          <p:cNvSpPr/>
          <p:nvPr/>
        </p:nvSpPr>
        <p:spPr>
          <a:xfrm>
            <a:off x="5998320" y="1417320"/>
            <a:ext cx="731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2"/>
          <p:cNvSpPr/>
          <p:nvPr/>
        </p:nvSpPr>
        <p:spPr>
          <a:xfrm>
            <a:off x="6748200" y="1783080"/>
            <a:ext cx="548640" cy="360"/>
          </a:xfrm>
          <a:prstGeom prst="line">
            <a:avLst/>
          </a:prstGeom>
          <a:ln w="19050">
            <a:solidFill>
              <a:srgbClr val="AABB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23"/>
          <p:cNvSpPr/>
          <p:nvPr/>
        </p:nvSpPr>
        <p:spPr>
          <a:xfrm>
            <a:off x="5769720" y="2331720"/>
            <a:ext cx="1371240" cy="2102760"/>
          </a:xfrm>
          <a:prstGeom prst="roundRect">
            <a:avLst>
              <a:gd name="adj" fmla="val 5333"/>
            </a:avLst>
          </a:prstGeom>
          <a:solidFill>
            <a:srgbClr val="F4F6F8"/>
          </a:solidFill>
          <a:ln w="12700">
            <a:solidFill>
              <a:srgbClr val="D0D8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24"/>
          <p:cNvSpPr/>
          <p:nvPr/>
        </p:nvSpPr>
        <p:spPr>
          <a:xfrm>
            <a:off x="5769720" y="242316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Behavioral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25"/>
          <p:cNvSpPr/>
          <p:nvPr/>
        </p:nvSpPr>
        <p:spPr>
          <a:xfrm>
            <a:off x="5815440" y="2788920"/>
            <a:ext cx="127980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Engagement signals: response rate, recency, GitHub, open-to-work</a:t>
            </a:r>
            <a:endParaRPr lang="en-IN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6"/>
          <p:cNvSpPr/>
          <p:nvPr/>
        </p:nvSpPr>
        <p:spPr>
          <a:xfrm>
            <a:off x="7708320" y="1417320"/>
            <a:ext cx="731160" cy="7311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27"/>
          <p:cNvSpPr/>
          <p:nvPr/>
        </p:nvSpPr>
        <p:spPr>
          <a:xfrm>
            <a:off x="7708320" y="1417320"/>
            <a:ext cx="731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28"/>
          <p:cNvSpPr/>
          <p:nvPr/>
        </p:nvSpPr>
        <p:spPr>
          <a:xfrm>
            <a:off x="7479720" y="2331720"/>
            <a:ext cx="1371240" cy="2102760"/>
          </a:xfrm>
          <a:prstGeom prst="roundRect">
            <a:avLst>
              <a:gd name="adj" fmla="val 5333"/>
            </a:avLst>
          </a:prstGeom>
          <a:solidFill>
            <a:srgbClr val="F4F6F8"/>
          </a:solidFill>
          <a:ln w="12700">
            <a:solidFill>
              <a:srgbClr val="D0D8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9"/>
          <p:cNvSpPr/>
          <p:nvPr/>
        </p:nvSpPr>
        <p:spPr>
          <a:xfrm>
            <a:off x="7479720" y="242316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Combine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30"/>
          <p:cNvSpPr/>
          <p:nvPr/>
        </p:nvSpPr>
        <p:spPr>
          <a:xfrm>
            <a:off x="7525440" y="2788920"/>
            <a:ext cx="127980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Weighted merge: Skills 40% + Semantic 35% + Behavioral 25%</a:t>
            </a:r>
            <a:endParaRPr lang="en-IN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Reading the JD Carefully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1"/>
          <p:cNvSpPr/>
          <p:nvPr/>
        </p:nvSpPr>
        <p:spPr>
          <a:xfrm>
            <a:off x="365760" y="1051560"/>
            <a:ext cx="2559960" cy="3474360"/>
          </a:xfrm>
          <a:prstGeom prst="roundRect">
            <a:avLst>
              <a:gd name="adj" fmla="val 2857"/>
            </a:avLst>
          </a:prstGeom>
          <a:solidFill>
            <a:srgbClr val="E8F8F5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2"/>
          <p:cNvSpPr/>
          <p:nvPr/>
        </p:nvSpPr>
        <p:spPr>
          <a:xfrm>
            <a:off x="365760" y="11430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28090"/>
                </a:solidFill>
                <a:effectLst/>
                <a:uFillTx/>
                <a:latin typeface="Calibri"/>
                <a:ea typeface="Calibri"/>
              </a:rPr>
              <a:t>Must Have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3"/>
          <p:cNvSpPr/>
          <p:nvPr/>
        </p:nvSpPr>
        <p:spPr>
          <a:xfrm>
            <a:off x="502920" y="1600200"/>
            <a:ext cx="228564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Embeddings (sentence-transformers, BGE, E5)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Vector DBs / hybrid search (FAISS, Qdrant...)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Strong Python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Ranking eval: NDCG, MRR, MAP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NLP / Information Retrieval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4"/>
          <p:cNvSpPr/>
          <p:nvPr/>
        </p:nvSpPr>
        <p:spPr>
          <a:xfrm>
            <a:off x="3200400" y="1051560"/>
            <a:ext cx="2559960" cy="3474360"/>
          </a:xfrm>
          <a:prstGeom prst="roundRect">
            <a:avLst>
              <a:gd name="adj" fmla="val 2857"/>
            </a:avLst>
          </a:prstGeom>
          <a:solidFill>
            <a:srgbClr val="EEF2FF"/>
          </a:solidFill>
          <a:ln w="12700">
            <a:solidFill>
              <a:srgbClr val="99AA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3200400" y="11430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344AA"/>
                </a:solidFill>
                <a:effectLst/>
                <a:uFillTx/>
                <a:latin typeface="Calibri"/>
                <a:ea typeface="Calibri"/>
              </a:rPr>
              <a:t>Nice to Have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3337560" y="1600200"/>
            <a:ext cx="228564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LLM fine-tuning (LoRA, QLoRA)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Learning-to-rank (XGBoost)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Open-source contributions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HR-tech / marketplace experience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7"/>
          <p:cNvSpPr/>
          <p:nvPr/>
        </p:nvSpPr>
        <p:spPr>
          <a:xfrm>
            <a:off x="6035040" y="1051560"/>
            <a:ext cx="2559960" cy="3474360"/>
          </a:xfrm>
          <a:prstGeom prst="roundRect">
            <a:avLst>
              <a:gd name="adj" fmla="val 2857"/>
            </a:avLst>
          </a:prstGeom>
          <a:solidFill>
            <a:srgbClr val="FFF0F0"/>
          </a:solidFill>
          <a:ln w="12700">
            <a:solidFill>
              <a:srgbClr val="FF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8"/>
          <p:cNvSpPr/>
          <p:nvPr/>
        </p:nvSpPr>
        <p:spPr>
          <a:xfrm>
            <a:off x="6035040" y="11430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CC3333"/>
                </a:solidFill>
                <a:effectLst/>
                <a:uFillTx/>
                <a:latin typeface="Calibri"/>
                <a:ea typeface="Calibri"/>
              </a:rPr>
              <a:t>Disqualifiers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9"/>
          <p:cNvSpPr/>
          <p:nvPr/>
        </p:nvSpPr>
        <p:spPr>
          <a:xfrm>
            <a:off x="6172200" y="1600200"/>
            <a:ext cx="228564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Pure CV/speech/robotics, no NLP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Only consulting firms (TCS, Infosys...)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Pure research, no production deploys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No code written in 18+ months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How Scores Are Computed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1"/>
          <p:cNvSpPr/>
          <p:nvPr/>
        </p:nvSpPr>
        <p:spPr>
          <a:xfrm>
            <a:off x="274320" y="1005840"/>
            <a:ext cx="2742840" cy="3657240"/>
          </a:xfrm>
          <a:prstGeom prst="roundRect">
            <a:avLst>
              <a:gd name="adj" fmla="val 2667"/>
            </a:avLst>
          </a:prstGeom>
          <a:solidFill>
            <a:srgbClr val="E0F5F5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"/>
          <p:cNvSpPr/>
          <p:nvPr/>
        </p:nvSpPr>
        <p:spPr>
          <a:xfrm>
            <a:off x="365760" y="1097280"/>
            <a:ext cx="25599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28090"/>
                </a:solidFill>
                <a:effectLst/>
                <a:uFillTx/>
                <a:latin typeface="Calibri"/>
                <a:ea typeface="Calibri"/>
              </a:rPr>
              <a:t>Skill Score  (40%)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3"/>
          <p:cNvSpPr/>
          <p:nvPr/>
        </p:nvSpPr>
        <p:spPr>
          <a:xfrm>
            <a:off x="411480" y="1600200"/>
            <a:ext cx="246852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Count JD keyword matches in all candidate text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Must-haves weighted 4x over nice-to-haves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Small penalty for disqualifier keywords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Experience years fit (5-9yr ideal)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Current title match to preferred roles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Education institution tier bonus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4"/>
          <p:cNvSpPr/>
          <p:nvPr/>
        </p:nvSpPr>
        <p:spPr>
          <a:xfrm>
            <a:off x="3218760" y="1005840"/>
            <a:ext cx="2742840" cy="3657240"/>
          </a:xfrm>
          <a:prstGeom prst="roundRect">
            <a:avLst>
              <a:gd name="adj" fmla="val 2667"/>
            </a:avLst>
          </a:prstGeom>
          <a:solidFill>
            <a:srgbClr val="EEF2FF"/>
          </a:solidFill>
          <a:ln w="12700">
            <a:solidFill>
              <a:srgbClr val="3355B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5"/>
          <p:cNvSpPr/>
          <p:nvPr/>
        </p:nvSpPr>
        <p:spPr>
          <a:xfrm>
            <a:off x="3310200" y="1097280"/>
            <a:ext cx="25599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3355BB"/>
                </a:solidFill>
                <a:effectLst/>
                <a:uFillTx/>
                <a:latin typeface="Calibri"/>
                <a:ea typeface="Calibri"/>
              </a:rPr>
              <a:t>Semantic Score  (35%)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6"/>
          <p:cNvSpPr/>
          <p:nvPr/>
        </p:nvSpPr>
        <p:spPr>
          <a:xfrm>
            <a:off x="3355920" y="1600200"/>
            <a:ext cx="246852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Candidate text = headline + summary + skills + career descriptions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all-MiniLM-L6-v2 to encode both candidate and JD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Cosine similarity = semantic match score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Captures meaning beyond exact keyword hits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Handles synonyms and related concepts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7"/>
          <p:cNvSpPr/>
          <p:nvPr/>
        </p:nvSpPr>
        <p:spPr>
          <a:xfrm>
            <a:off x="6163200" y="1005840"/>
            <a:ext cx="2742840" cy="3657240"/>
          </a:xfrm>
          <a:prstGeom prst="roundRect">
            <a:avLst>
              <a:gd name="adj" fmla="val 2667"/>
            </a:avLst>
          </a:prstGeom>
          <a:solidFill>
            <a:srgbClr val="FFF8E8"/>
          </a:solidFill>
          <a:ln w="12700">
            <a:solidFill>
              <a:srgbClr val="885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8"/>
          <p:cNvSpPr/>
          <p:nvPr/>
        </p:nvSpPr>
        <p:spPr>
          <a:xfrm>
            <a:off x="6254640" y="1097280"/>
            <a:ext cx="25599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85500"/>
                </a:solidFill>
                <a:effectLst/>
                <a:uFillTx/>
                <a:latin typeface="Calibri"/>
                <a:ea typeface="Calibri"/>
              </a:rPr>
              <a:t>Behavioral Score  (25%)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9"/>
          <p:cNvSpPr/>
          <p:nvPr/>
        </p:nvSpPr>
        <p:spPr>
          <a:xfrm>
            <a:off x="6300360" y="1600200"/>
            <a:ext cx="246852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Recency: last active within 30 days = full score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open_to_work_flag boosts availability signal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recruiter_response_rate and avg_response_time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GitHub activity score for technical credibility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Notice period &lt;= 30 days preferred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 0"/>
          <p:cNvSpPr/>
          <p:nvPr/>
        </p:nvSpPr>
        <p:spPr>
          <a:xfrm>
            <a:off x="457200" y="27432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Pipeline Architecture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1"/>
          <p:cNvSpPr/>
          <p:nvPr/>
        </p:nvSpPr>
        <p:spPr>
          <a:xfrm>
            <a:off x="274320" y="1005840"/>
            <a:ext cx="1828440" cy="914040"/>
          </a:xfrm>
          <a:prstGeom prst="roundRect">
            <a:avLst>
              <a:gd name="adj" fmla="val 10000"/>
            </a:avLst>
          </a:prstGeom>
          <a:solidFill>
            <a:srgbClr val="F4F6F8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2"/>
          <p:cNvSpPr/>
          <p:nvPr/>
        </p:nvSpPr>
        <p:spPr>
          <a:xfrm>
            <a:off x="274320" y="1005840"/>
            <a:ext cx="18284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candidates.jsonl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100K candidates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3"/>
          <p:cNvSpPr/>
          <p:nvPr/>
        </p:nvSpPr>
        <p:spPr>
          <a:xfrm>
            <a:off x="2103120" y="1463040"/>
            <a:ext cx="457200" cy="360"/>
          </a:xfrm>
          <a:prstGeom prst="line">
            <a:avLst/>
          </a:prstGeom>
          <a:ln w="254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4"/>
          <p:cNvSpPr/>
          <p:nvPr/>
        </p:nvSpPr>
        <p:spPr>
          <a:xfrm>
            <a:off x="2560320" y="1005840"/>
            <a:ext cx="2011320" cy="914040"/>
          </a:xfrm>
          <a:prstGeom prst="roundRect">
            <a:avLst>
              <a:gd name="adj" fmla="val 10000"/>
            </a:avLst>
          </a:prstGeom>
          <a:solidFill>
            <a:srgbClr val="E8F8F5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5"/>
          <p:cNvSpPr/>
          <p:nvPr/>
        </p:nvSpPr>
        <p:spPr>
          <a:xfrm>
            <a:off x="2560320" y="1005840"/>
            <a:ext cx="20113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feature_engineering.py</a:t>
            </a:r>
            <a:endParaRPr lang="en-IN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skill / experience / education</a:t>
            </a:r>
            <a:endParaRPr lang="en-IN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6"/>
          <p:cNvSpPr/>
          <p:nvPr/>
        </p:nvSpPr>
        <p:spPr>
          <a:xfrm>
            <a:off x="4572000" y="1463040"/>
            <a:ext cx="457200" cy="360"/>
          </a:xfrm>
          <a:prstGeom prst="line">
            <a:avLst/>
          </a:prstGeom>
          <a:ln w="254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7"/>
          <p:cNvSpPr/>
          <p:nvPr/>
        </p:nvSpPr>
        <p:spPr>
          <a:xfrm>
            <a:off x="5029200" y="1005840"/>
            <a:ext cx="2011320" cy="91404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12700">
            <a:solidFill>
              <a:srgbClr val="3355B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8"/>
          <p:cNvSpPr/>
          <p:nvPr/>
        </p:nvSpPr>
        <p:spPr>
          <a:xfrm>
            <a:off x="5029200" y="1005840"/>
            <a:ext cx="20113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sentence-transformers</a:t>
            </a:r>
            <a:endParaRPr lang="en-IN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all-MiniLM-L6-v2</a:t>
            </a:r>
            <a:endParaRPr lang="en-IN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9"/>
          <p:cNvSpPr/>
          <p:nvPr/>
        </p:nvSpPr>
        <p:spPr>
          <a:xfrm>
            <a:off x="7040880" y="1463040"/>
            <a:ext cx="457200" cy="360"/>
          </a:xfrm>
          <a:prstGeom prst="line">
            <a:avLst/>
          </a:prstGeom>
          <a:ln w="254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0"/>
          <p:cNvSpPr/>
          <p:nvPr/>
        </p:nvSpPr>
        <p:spPr>
          <a:xfrm>
            <a:off x="7498080" y="1005840"/>
            <a:ext cx="1371240" cy="914040"/>
          </a:xfrm>
          <a:prstGeom prst="roundRect">
            <a:avLst>
              <a:gd name="adj" fmla="val 10000"/>
            </a:avLst>
          </a:prstGeom>
          <a:solidFill>
            <a:srgbClr val="FFF8E8"/>
          </a:solidFill>
          <a:ln w="12700">
            <a:solidFill>
              <a:srgbClr val="885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1"/>
          <p:cNvSpPr/>
          <p:nvPr/>
        </p:nvSpPr>
        <p:spPr>
          <a:xfrm>
            <a:off x="7498080" y="1005840"/>
            <a:ext cx="137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behavioral</a:t>
            </a:r>
            <a:endParaRPr lang="en-IN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signals</a:t>
            </a:r>
            <a:endParaRPr lang="en-IN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2"/>
          <p:cNvSpPr/>
          <p:nvPr/>
        </p:nvSpPr>
        <p:spPr>
          <a:xfrm>
            <a:off x="1188720" y="1920240"/>
            <a:ext cx="360" cy="457200"/>
          </a:xfrm>
          <a:prstGeom prst="line">
            <a:avLst/>
          </a:prstGeom>
          <a:ln w="1905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3"/>
          <p:cNvSpPr/>
          <p:nvPr/>
        </p:nvSpPr>
        <p:spPr>
          <a:xfrm>
            <a:off x="3566160" y="1920240"/>
            <a:ext cx="360" cy="457200"/>
          </a:xfrm>
          <a:prstGeom prst="line">
            <a:avLst/>
          </a:prstGeom>
          <a:ln w="1905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4"/>
          <p:cNvSpPr/>
          <p:nvPr/>
        </p:nvSpPr>
        <p:spPr>
          <a:xfrm>
            <a:off x="6035040" y="1920240"/>
            <a:ext cx="360" cy="457200"/>
          </a:xfrm>
          <a:prstGeom prst="line">
            <a:avLst/>
          </a:prstGeom>
          <a:ln w="1905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15"/>
          <p:cNvSpPr/>
          <p:nvPr/>
        </p:nvSpPr>
        <p:spPr>
          <a:xfrm>
            <a:off x="8183880" y="1920240"/>
            <a:ext cx="360" cy="457200"/>
          </a:xfrm>
          <a:prstGeom prst="line">
            <a:avLst/>
          </a:prstGeom>
          <a:ln w="1905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16"/>
          <p:cNvSpPr/>
          <p:nvPr/>
        </p:nvSpPr>
        <p:spPr>
          <a:xfrm>
            <a:off x="1371600" y="2377440"/>
            <a:ext cx="6400440" cy="77688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2700">
            <a:solidFill>
              <a:srgbClr val="1E276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7"/>
          <p:cNvSpPr/>
          <p:nvPr/>
        </p:nvSpPr>
        <p:spPr>
          <a:xfrm>
            <a:off x="1371600" y="2377440"/>
            <a:ext cx="6400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ranking.py  —  weighted score = 0.40×skill + 0.35×semantic + 0.25×behavioral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18"/>
          <p:cNvSpPr/>
          <p:nvPr/>
        </p:nvSpPr>
        <p:spPr>
          <a:xfrm>
            <a:off x="4572000" y="3154680"/>
            <a:ext cx="360" cy="411480"/>
          </a:xfrm>
          <a:prstGeom prst="line">
            <a:avLst/>
          </a:prstGeom>
          <a:ln w="254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19"/>
          <p:cNvSpPr/>
          <p:nvPr/>
        </p:nvSpPr>
        <p:spPr>
          <a:xfrm>
            <a:off x="2743200" y="3566160"/>
            <a:ext cx="3657240" cy="685440"/>
          </a:xfrm>
          <a:prstGeom prst="roundRect">
            <a:avLst>
              <a:gd name="adj" fmla="val 10667"/>
            </a:avLst>
          </a:prstGeom>
          <a:solidFill>
            <a:srgbClr val="F4F6F8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20"/>
          <p:cNvSpPr/>
          <p:nvPr/>
        </p:nvSpPr>
        <p:spPr>
          <a:xfrm>
            <a:off x="2743200" y="3566160"/>
            <a:ext cx="3657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sort descending → take top 100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21"/>
          <p:cNvSpPr/>
          <p:nvPr/>
        </p:nvSpPr>
        <p:spPr>
          <a:xfrm>
            <a:off x="4572000" y="4251960"/>
            <a:ext cx="360" cy="365760"/>
          </a:xfrm>
          <a:prstGeom prst="line">
            <a:avLst/>
          </a:prstGeom>
          <a:ln w="254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22"/>
          <p:cNvSpPr/>
          <p:nvPr/>
        </p:nvSpPr>
        <p:spPr>
          <a:xfrm>
            <a:off x="3200400" y="4617720"/>
            <a:ext cx="2742840" cy="594000"/>
          </a:xfrm>
          <a:prstGeom prst="roundRect">
            <a:avLst>
              <a:gd name="adj" fmla="val 12308"/>
            </a:avLst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3"/>
          <p:cNvSpPr/>
          <p:nvPr/>
        </p:nvSpPr>
        <p:spPr>
          <a:xfrm>
            <a:off x="3200400" y="4617720"/>
            <a:ext cx="27428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submission.csv  (100 rows)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Behavioral Signals — Key Insight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"/>
          <p:cNvSpPr/>
          <p:nvPr/>
        </p:nvSpPr>
        <p:spPr>
          <a:xfrm>
            <a:off x="457200" y="91440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A perfect resume that hasn't logged in for 6 months and has 5% response rate is not actually hireable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8" name="Chart 0"/>
          <p:cNvGraphicFramePr/>
          <p:nvPr/>
        </p:nvGraphicFramePr>
        <p:xfrm>
          <a:off x="457200" y="1463040"/>
          <a:ext cx="5028840" cy="3200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9" name="Shape 2"/>
          <p:cNvSpPr/>
          <p:nvPr/>
        </p:nvSpPr>
        <p:spPr>
          <a:xfrm>
            <a:off x="5760720" y="1463040"/>
            <a:ext cx="3017160" cy="3200040"/>
          </a:xfrm>
          <a:prstGeom prst="roundRect">
            <a:avLst>
              <a:gd name="adj" fmla="val 2424"/>
            </a:avLst>
          </a:prstGeom>
          <a:solidFill>
            <a:srgbClr val="F4F6F8"/>
          </a:solidFill>
          <a:ln w="12700">
            <a:solidFill>
              <a:srgbClr val="D0D8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3"/>
          <p:cNvSpPr/>
          <p:nvPr/>
        </p:nvSpPr>
        <p:spPr>
          <a:xfrm>
            <a:off x="5943600" y="160020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Key Decisions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4"/>
          <p:cNvSpPr/>
          <p:nvPr/>
        </p:nvSpPr>
        <p:spPr>
          <a:xfrm>
            <a:off x="5943600" y="2057400"/>
            <a:ext cx="265140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Last active ≤7 days = 1.0, &gt;90 days = 0.1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open_to_work_flag: 1.0 vs 0.3 (not 0.0 — passive candidates still count)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GitHub -1 (no profile) = 0.3 penalty, not zero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0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Response time ≤2 hrs = 1.0, &gt;72 hrs = 0.1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Dataset Observations (EDA)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3" name="Chart 0"/>
          <p:cNvGraphicFramePr/>
          <p:nvPr/>
        </p:nvGraphicFramePr>
        <p:xfrm>
          <a:off x="365760" y="1005840"/>
          <a:ext cx="4205880" cy="2742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04" name="Chart 1"/>
          <p:cNvGraphicFramePr/>
          <p:nvPr/>
        </p:nvGraphicFramePr>
        <p:xfrm>
          <a:off x="4754880" y="1005840"/>
          <a:ext cx="4023000" cy="2742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5" name="Text 1"/>
          <p:cNvSpPr/>
          <p:nvPr/>
        </p:nvSpPr>
        <p:spPr>
          <a:xfrm>
            <a:off x="457200" y="3840480"/>
            <a:ext cx="8412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Most candidates are in the 6-9yr experience range — competitive for this JD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~40% have tier 1 or 2 institutions; rest tier 3 or lower — education is secondary signal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~60% are open to work — availability is fairly good in the pool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 0"/>
          <p:cNvSpPr/>
          <p:nvPr/>
        </p:nvSpPr>
        <p:spPr>
          <a:xfrm>
            <a:off x="457200" y="27432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Results — Top Candidates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1"/>
          <p:cNvSpPr/>
          <p:nvPr/>
        </p:nvSpPr>
        <p:spPr>
          <a:xfrm>
            <a:off x="457200" y="960120"/>
            <a:ext cx="1874160" cy="127980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12700">
            <a:solidFill>
              <a:srgbClr val="D0D8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2"/>
          <p:cNvSpPr/>
          <p:nvPr/>
        </p:nvSpPr>
        <p:spPr>
          <a:xfrm>
            <a:off x="457200" y="1005840"/>
            <a:ext cx="1874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28090"/>
                </a:solidFill>
                <a:effectLst/>
                <a:uFillTx/>
                <a:latin typeface="Calibri"/>
                <a:ea typeface="Calibri"/>
              </a:rPr>
              <a:t>0.71</a:t>
            </a:r>
            <a:endParaRPr lang="en-IN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3"/>
          <p:cNvSpPr/>
          <p:nvPr/>
        </p:nvSpPr>
        <p:spPr>
          <a:xfrm>
            <a:off x="457200" y="1691640"/>
            <a:ext cx="1874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avg semantic sim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top 10 candidates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4"/>
          <p:cNvSpPr/>
          <p:nvPr/>
        </p:nvSpPr>
        <p:spPr>
          <a:xfrm>
            <a:off x="2606040" y="960120"/>
            <a:ext cx="1874160" cy="127980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12700">
            <a:solidFill>
              <a:srgbClr val="D0D8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5"/>
          <p:cNvSpPr/>
          <p:nvPr/>
        </p:nvSpPr>
        <p:spPr>
          <a:xfrm>
            <a:off x="2606040" y="1005840"/>
            <a:ext cx="1874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28090"/>
                </a:solidFill>
                <a:effectLst/>
                <a:uFillTx/>
                <a:latin typeface="Calibri"/>
                <a:ea typeface="Calibri"/>
              </a:rPr>
              <a:t>0.34</a:t>
            </a:r>
            <a:endParaRPr lang="en-IN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6"/>
          <p:cNvSpPr/>
          <p:nvPr/>
        </p:nvSpPr>
        <p:spPr>
          <a:xfrm>
            <a:off x="2606040" y="1691640"/>
            <a:ext cx="1874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avg semantic sim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random candidates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7"/>
          <p:cNvSpPr/>
          <p:nvPr/>
        </p:nvSpPr>
        <p:spPr>
          <a:xfrm>
            <a:off x="4754880" y="960120"/>
            <a:ext cx="1874160" cy="127980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12700">
            <a:solidFill>
              <a:srgbClr val="D0D8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8"/>
          <p:cNvSpPr/>
          <p:nvPr/>
        </p:nvSpPr>
        <p:spPr>
          <a:xfrm>
            <a:off x="4754880" y="1005840"/>
            <a:ext cx="1874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28090"/>
                </a:solidFill>
                <a:effectLst/>
                <a:uFillTx/>
                <a:latin typeface="Calibri"/>
                <a:ea typeface="Calibri"/>
              </a:rPr>
              <a:t>7.2 yrs</a:t>
            </a:r>
            <a:endParaRPr lang="en-IN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9"/>
          <p:cNvSpPr/>
          <p:nvPr/>
        </p:nvSpPr>
        <p:spPr>
          <a:xfrm>
            <a:off x="4754880" y="1691640"/>
            <a:ext cx="1874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avg experience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top 10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0"/>
          <p:cNvSpPr/>
          <p:nvPr/>
        </p:nvSpPr>
        <p:spPr>
          <a:xfrm>
            <a:off x="6903720" y="960120"/>
            <a:ext cx="1874160" cy="127980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12700">
            <a:solidFill>
              <a:srgbClr val="D0D8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1"/>
          <p:cNvSpPr/>
          <p:nvPr/>
        </p:nvSpPr>
        <p:spPr>
          <a:xfrm>
            <a:off x="6903720" y="1005840"/>
            <a:ext cx="1874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28090"/>
                </a:solidFill>
                <a:effectLst/>
                <a:uFillTx/>
                <a:latin typeface="Calibri"/>
                <a:ea typeface="Calibri"/>
              </a:rPr>
              <a:t>~3 min</a:t>
            </a:r>
            <a:endParaRPr lang="en-IN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2"/>
          <p:cNvSpPr/>
          <p:nvPr/>
        </p:nvSpPr>
        <p:spPr>
          <a:xfrm>
            <a:off x="6903720" y="1691640"/>
            <a:ext cx="1874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runtime (CPU)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100K candidates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9" name="Table 0"/>
          <p:cNvGraphicFramePr/>
          <p:nvPr/>
        </p:nvGraphicFramePr>
        <p:xfrm>
          <a:off x="365760" y="2423160"/>
          <a:ext cx="7589160" cy="237708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548640"/>
                <a:gridCol w="1463040"/>
                <a:gridCol w="1828800"/>
                <a:gridCol w="731520"/>
              </a:tblGrid>
              <a:tr h="396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Rank</a:t>
                      </a:r>
                      <a:endParaRPr lang="en-IN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Title</a:t>
                      </a:r>
                      <a:endParaRPr lang="en-IN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YOE</a:t>
                      </a:r>
                      <a:endParaRPr lang="en-IN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JD Skill Matches</a:t>
                      </a:r>
                      <a:endParaRPr lang="en-IN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Behavioral</a:t>
                      </a:r>
                      <a:endParaRPr lang="en-IN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Score</a:t>
                      </a:r>
                      <a:endParaRPr lang="en-IN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</a:tr>
              <a:tr h="396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Recommendation Systems Eng.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6.0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9 / 24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Open, RR=0.91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0.650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</a:tr>
              <a:tr h="396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ML Engineer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7.4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11 / 24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Active, GH=78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0.621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</a:tr>
              <a:tr h="396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NLP Engineer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5.9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10 / 24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Open, RR=0.84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0.598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</a:tr>
              <a:tr h="396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4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Search Engineer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8.1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9 / 24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Open, GH=65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0.572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</a:tr>
              <a:tr h="396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5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Senior AI Researcher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6.8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8 / 24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Active, RR=0.79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0.548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Limitations &amp; What I'd Improve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1"/>
          <p:cNvSpPr/>
          <p:nvPr/>
        </p:nvSpPr>
        <p:spPr>
          <a:xfrm>
            <a:off x="365760" y="1005840"/>
            <a:ext cx="3931560" cy="3474360"/>
          </a:xfrm>
          <a:prstGeom prst="roundRect">
            <a:avLst>
              <a:gd name="adj" fmla="val 2105"/>
            </a:avLst>
          </a:prstGeom>
          <a:solidFill>
            <a:srgbClr val="FFF5F5"/>
          </a:solidFill>
          <a:ln w="12700">
            <a:solidFill>
              <a:srgbClr val="FFBBB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"/>
          <p:cNvSpPr/>
          <p:nvPr/>
        </p:nvSpPr>
        <p:spPr>
          <a:xfrm>
            <a:off x="365760" y="1097280"/>
            <a:ext cx="3931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CC3333"/>
                </a:solidFill>
                <a:effectLst/>
                <a:uFillTx/>
                <a:latin typeface="Calibri"/>
                <a:ea typeface="Calibri"/>
              </a:rPr>
              <a:t>Current Limitations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3"/>
          <p:cNvSpPr/>
          <p:nvPr/>
        </p:nvSpPr>
        <p:spPr>
          <a:xfrm>
            <a:off x="548640" y="1554480"/>
            <a:ext cx="356580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Keyword matching misses skill synonyms (e.g. 'transformers' vs 'BERT')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Weights (40/35/25) chosen manually — not validated on labeled data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No honeypot/shill candidate detection built in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Doesn't handle career trajectory — just current title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No location filtering (JD prefers Pune/Noida)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4"/>
          <p:cNvSpPr/>
          <p:nvPr/>
        </p:nvSpPr>
        <p:spPr>
          <a:xfrm>
            <a:off x="4663440" y="1005840"/>
            <a:ext cx="4114440" cy="3474360"/>
          </a:xfrm>
          <a:prstGeom prst="roundRect">
            <a:avLst>
              <a:gd name="adj" fmla="val 2105"/>
            </a:avLst>
          </a:prstGeom>
          <a:solidFill>
            <a:srgbClr val="F0FBF8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5"/>
          <p:cNvSpPr/>
          <p:nvPr/>
        </p:nvSpPr>
        <p:spPr>
          <a:xfrm>
            <a:off x="4663440" y="1097280"/>
            <a:ext cx="4114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28090"/>
                </a:solidFill>
                <a:effectLst/>
                <a:uFillTx/>
                <a:latin typeface="Calibri"/>
                <a:ea typeface="Calibri"/>
              </a:rPr>
              <a:t>If I Had More Time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6"/>
          <p:cNvSpPr/>
          <p:nvPr/>
        </p:nvSpPr>
        <p:spPr>
          <a:xfrm>
            <a:off x="4846320" y="1554480"/>
            <a:ext cx="374868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Add location score (prefer Pune/NCR candidates)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Try cross-encoder reranking on top-500 shortlist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Learning-to-rank with synthetic training data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Normalize salary expectations to JD range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Career trajectory analysis (upward mobility signals)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 0"/>
          <p:cNvSpPr/>
          <p:nvPr/>
        </p:nvSpPr>
        <p:spPr>
          <a:xfrm>
            <a:off x="731520" y="457200"/>
            <a:ext cx="76806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 Takeaways</a:t>
            </a:r>
            <a:endParaRPr lang="en-IN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"/>
          <p:cNvSpPr/>
          <p:nvPr/>
        </p:nvSpPr>
        <p:spPr>
          <a:xfrm>
            <a:off x="457200" y="1417320"/>
            <a:ext cx="548280" cy="5482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"/>
          <p:cNvSpPr/>
          <p:nvPr/>
        </p:nvSpPr>
        <p:spPr>
          <a:xfrm>
            <a:off x="457200" y="141732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3"/>
          <p:cNvSpPr/>
          <p:nvPr/>
        </p:nvSpPr>
        <p:spPr>
          <a:xfrm>
            <a:off x="1188720" y="1371600"/>
            <a:ext cx="74062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Read the JD carefully — it tells you exactly what NOT to rank (disqualifiers matter as much as must-haves)</a:t>
            </a:r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4"/>
          <p:cNvSpPr/>
          <p:nvPr/>
        </p:nvSpPr>
        <p:spPr>
          <a:xfrm>
            <a:off x="457200" y="2331720"/>
            <a:ext cx="548280" cy="5482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5"/>
          <p:cNvSpPr/>
          <p:nvPr/>
        </p:nvSpPr>
        <p:spPr>
          <a:xfrm>
            <a:off x="457200" y="233172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6"/>
          <p:cNvSpPr/>
          <p:nvPr/>
        </p:nvSpPr>
        <p:spPr>
          <a:xfrm>
            <a:off x="1188720" y="2286000"/>
            <a:ext cx="74062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Behavioral signals are surprisingly powerful — an inactive high-skill candidate ranks below an active medium-skill one</a:t>
            </a:r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7"/>
          <p:cNvSpPr/>
          <p:nvPr/>
        </p:nvSpPr>
        <p:spPr>
          <a:xfrm>
            <a:off x="457200" y="3246120"/>
            <a:ext cx="548280" cy="5482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8"/>
          <p:cNvSpPr/>
          <p:nvPr/>
        </p:nvSpPr>
        <p:spPr>
          <a:xfrm>
            <a:off x="457200" y="324612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9"/>
          <p:cNvSpPr/>
          <p:nvPr/>
        </p:nvSpPr>
        <p:spPr>
          <a:xfrm>
            <a:off x="1188720" y="3200400"/>
            <a:ext cx="74062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Semantic + keyword hybrid beats either alone — embeddings catch nuance, keywords catch exact requirements</a:t>
            </a:r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10"/>
          <p:cNvSpPr/>
          <p:nvPr/>
        </p:nvSpPr>
        <p:spPr>
          <a:xfrm>
            <a:off x="457200" y="4160520"/>
            <a:ext cx="548280" cy="5482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1"/>
          <p:cNvSpPr/>
          <p:nvPr/>
        </p:nvSpPr>
        <p:spPr>
          <a:xfrm>
            <a:off x="457200" y="416052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2"/>
          <p:cNvSpPr/>
          <p:nvPr/>
        </p:nvSpPr>
        <p:spPr>
          <a:xfrm>
            <a:off x="1188720" y="4114800"/>
            <a:ext cx="74062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Simple weighted sum works well as a baseline — the complexity should go into the feature engineering, not the combination</a:t>
            </a:r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LibreOffice/26.2.3.2$Linux_X86_64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2026-06-09T08:40:46Z</dcterms:created>
  <dc:creator>Team Submission</dc:creator>
  <dc:description/>
  <dc:language>en-IN</dc:language>
  <cp:lastModifiedBy/>
  <dcterms:modified xsi:type="dcterms:W3CDTF">2026-06-10T14:46:54Z</dcterms:modified>
  <cp:revision>3</cp:revision>
  <dc:subject>PptxGenJS Presentation</dc:subject>
  <dc:title>Redrob Candidate Ranking Challenge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On-screen Show (16:9)</vt:lpwstr>
  </property>
  <property fmtid="{D5CDD505-2E9C-101B-9397-08002B2CF9AE}" pid="4" name="Slides">
    <vt:i4>11</vt:i4>
  </property>
</Properties>
</file>